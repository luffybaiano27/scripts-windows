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Anonymous Pro Bold" charset="1" panose="02060809030202000504"/>
      <p:regular r:id="rId14"/>
    </p:embeddedFont>
    <p:embeddedFont>
      <p:font typeface="Cardo" charset="1" panose="02020600000000000000"/>
      <p:regular r:id="rId15"/>
    </p:embeddedFont>
    <p:embeddedFont>
      <p:font typeface="Cardo Bold" charset="1" panose="02020804080000020003"/>
      <p:regular r:id="rId16"/>
    </p:embeddedFont>
    <p:embeddedFont>
      <p:font typeface="Open Sans Bold Italics" charset="1" panose="020B08060305040202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15.png" Type="http://schemas.openxmlformats.org/officeDocument/2006/relationships/image"/><Relationship Id="rId15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15.png" Type="http://schemas.openxmlformats.org/officeDocument/2006/relationships/image"/><Relationship Id="rId15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17.png" Type="http://schemas.openxmlformats.org/officeDocument/2006/relationships/image"/><Relationship Id="rId13" Target="../media/image18.svg" Type="http://schemas.openxmlformats.org/officeDocument/2006/relationships/image"/><Relationship Id="rId14" Target="../media/image15.png" Type="http://schemas.openxmlformats.org/officeDocument/2006/relationships/image"/><Relationship Id="rId15" Target="../media/image16.svg" Type="http://schemas.openxmlformats.org/officeDocument/2006/relationships/image"/><Relationship Id="rId16" Target="../media/image1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17.png" Type="http://schemas.openxmlformats.org/officeDocument/2006/relationships/image"/><Relationship Id="rId13" Target="../media/image18.svg" Type="http://schemas.openxmlformats.org/officeDocument/2006/relationships/image"/><Relationship Id="rId14" Target="../media/image15.png" Type="http://schemas.openxmlformats.org/officeDocument/2006/relationships/image"/><Relationship Id="rId15" Target="../media/image16.svg" Type="http://schemas.openxmlformats.org/officeDocument/2006/relationships/image"/><Relationship Id="rId16" Target="../media/image20.png" Type="http://schemas.openxmlformats.org/officeDocument/2006/relationships/image"/><Relationship Id="rId17" Target="../media/image2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22.png" Type="http://schemas.openxmlformats.org/officeDocument/2006/relationships/image"/><Relationship Id="rId13" Target="../media/image23.svg" Type="http://schemas.openxmlformats.org/officeDocument/2006/relationships/image"/><Relationship Id="rId14" Target="../media/image15.png" Type="http://schemas.openxmlformats.org/officeDocument/2006/relationships/image"/><Relationship Id="rId15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15.png" Type="http://schemas.openxmlformats.org/officeDocument/2006/relationships/image"/><Relationship Id="rId15" Target="../media/image16.svg" Type="http://schemas.openxmlformats.org/officeDocument/2006/relationships/image"/><Relationship Id="rId16" Target="../media/image24.png" Type="http://schemas.openxmlformats.org/officeDocument/2006/relationships/image"/><Relationship Id="rId17" Target="../media/image25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639642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01187" cy="2901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601187" cy="20252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845389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7"/>
                </a:lnTo>
                <a:lnTo>
                  <a:pt x="0" y="5456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845389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7"/>
                </a:lnTo>
                <a:lnTo>
                  <a:pt x="0" y="5456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845389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7"/>
                </a:lnTo>
                <a:lnTo>
                  <a:pt x="0" y="5456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35508" y="9193555"/>
            <a:ext cx="1271608" cy="652980"/>
            <a:chOff x="0" y="0"/>
            <a:chExt cx="334909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688263" y="4034873"/>
            <a:ext cx="14911475" cy="2631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12"/>
              </a:lnSpc>
            </a:pPr>
            <a:r>
              <a:rPr lang="en-US" b="true" sz="19712" spc="-670">
                <a:solidFill>
                  <a:srgbClr val="0057CC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CMD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4227883" y="5926714"/>
            <a:ext cx="765682" cy="1303792"/>
          </a:xfrm>
          <a:custGeom>
            <a:avLst/>
            <a:gdLst/>
            <a:ahLst/>
            <a:cxnLst/>
            <a:rect r="r" b="b" t="t" l="l"/>
            <a:pathLst>
              <a:path h="1303792" w="765682">
                <a:moveTo>
                  <a:pt x="0" y="0"/>
                </a:moveTo>
                <a:lnTo>
                  <a:pt x="765682" y="0"/>
                </a:lnTo>
                <a:lnTo>
                  <a:pt x="765682" y="1303792"/>
                </a:lnTo>
                <a:lnTo>
                  <a:pt x="0" y="130379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8082106" y="7554167"/>
            <a:ext cx="2123787" cy="586938"/>
          </a:xfrm>
          <a:custGeom>
            <a:avLst/>
            <a:gdLst/>
            <a:ahLst/>
            <a:cxnLst/>
            <a:rect r="r" b="b" t="t" l="l"/>
            <a:pathLst>
              <a:path h="586938" w="2123787">
                <a:moveTo>
                  <a:pt x="0" y="0"/>
                </a:moveTo>
                <a:lnTo>
                  <a:pt x="2123788" y="0"/>
                </a:lnTo>
                <a:lnTo>
                  <a:pt x="2123788" y="586938"/>
                </a:lnTo>
                <a:lnTo>
                  <a:pt x="0" y="58693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6352676" y="3327548"/>
            <a:ext cx="5582648" cy="51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8"/>
              </a:lnSpc>
            </a:pPr>
            <a:r>
              <a:rPr lang="en-US" sz="3818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rPr>
              <a:t>Comandos em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270793" y="6312079"/>
            <a:ext cx="9746415" cy="641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96"/>
              </a:lnSpc>
            </a:pPr>
            <a:r>
              <a:rPr lang="en-US" sz="3783" spc="431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rPr>
              <a:t>ATIVADOR “LUFFY”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84087" y="852880"/>
            <a:ext cx="5115100" cy="538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ardo Bold"/>
                <a:ea typeface="Cardo Bold"/>
                <a:cs typeface="Cardo Bold"/>
                <a:sym typeface="Cardo Bold"/>
              </a:rPr>
              <a:t>cmd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28355" y="8694491"/>
            <a:ext cx="5426566" cy="422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2"/>
              </a:lnSpc>
            </a:pPr>
            <a:r>
              <a:rPr lang="en-US" sz="2473" spc="281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rPr>
              <a:t>JOÃO MARCELO CARDOSO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533150" y="8694491"/>
            <a:ext cx="5749689" cy="422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2"/>
              </a:lnSpc>
            </a:pPr>
            <a:r>
              <a:rPr lang="en-US" sz="2473" spc="281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rPr>
              <a:t>SISTEMAS OPERACIONAIS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980490" y="8694491"/>
            <a:ext cx="4898577" cy="422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2"/>
              </a:lnSpc>
            </a:pPr>
            <a:r>
              <a:rPr lang="en-US" sz="2473" spc="281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rPr>
              <a:t>MS. HELENO CARDOSO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01187" cy="2901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601187" cy="20252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2310814" y="4102411"/>
            <a:ext cx="5798369" cy="3088949"/>
          </a:xfrm>
          <a:custGeom>
            <a:avLst/>
            <a:gdLst/>
            <a:ahLst/>
            <a:cxnLst/>
            <a:rect r="r" b="b" t="t" l="l"/>
            <a:pathLst>
              <a:path h="3088949" w="5798369">
                <a:moveTo>
                  <a:pt x="0" y="0"/>
                </a:moveTo>
                <a:lnTo>
                  <a:pt x="5798370" y="0"/>
                </a:lnTo>
                <a:lnTo>
                  <a:pt x="5798370" y="3088950"/>
                </a:lnTo>
                <a:lnTo>
                  <a:pt x="0" y="30889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7336807" y="6800504"/>
            <a:ext cx="640554" cy="1090726"/>
          </a:xfrm>
          <a:custGeom>
            <a:avLst/>
            <a:gdLst/>
            <a:ahLst/>
            <a:cxnLst/>
            <a:rect r="r" b="b" t="t" l="l"/>
            <a:pathLst>
              <a:path h="1090726" w="640554">
                <a:moveTo>
                  <a:pt x="0" y="0"/>
                </a:moveTo>
                <a:lnTo>
                  <a:pt x="640553" y="0"/>
                </a:lnTo>
                <a:lnTo>
                  <a:pt x="640553" y="1090726"/>
                </a:lnTo>
                <a:lnTo>
                  <a:pt x="0" y="10907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2092743" y="3762832"/>
            <a:ext cx="1048895" cy="1018382"/>
          </a:xfrm>
          <a:custGeom>
            <a:avLst/>
            <a:gdLst/>
            <a:ahLst/>
            <a:cxnLst/>
            <a:rect r="r" b="b" t="t" l="l"/>
            <a:pathLst>
              <a:path h="1018382" w="1048895">
                <a:moveTo>
                  <a:pt x="0" y="0"/>
                </a:moveTo>
                <a:lnTo>
                  <a:pt x="1048894" y="0"/>
                </a:lnTo>
                <a:lnTo>
                  <a:pt x="1048894" y="1018382"/>
                </a:lnTo>
                <a:lnTo>
                  <a:pt x="0" y="101838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2442638" y="5172535"/>
            <a:ext cx="5534722" cy="901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7"/>
              </a:lnSpc>
            </a:pPr>
            <a:r>
              <a:rPr lang="en-US" b="true" sz="7420" spc="-252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DESAFIO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415014" y="4366360"/>
            <a:ext cx="8844286" cy="254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4090" indent="-347045" lvl="1">
              <a:lnSpc>
                <a:spcPts val="4018"/>
              </a:lnSpc>
              <a:buFont typeface="Arial"/>
              <a:buChar char="•"/>
            </a:pPr>
            <a:r>
              <a:rPr lang="en-US" sz="3214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rPr>
              <a:t>Uso de WDS para implantar máquinas novas</a:t>
            </a:r>
          </a:p>
          <a:p>
            <a:pPr algn="just">
              <a:lnSpc>
                <a:spcPts val="4018"/>
              </a:lnSpc>
            </a:pPr>
          </a:p>
          <a:p>
            <a:pPr algn="just" marL="694090" indent="-347045" lvl="1">
              <a:lnSpc>
                <a:spcPts val="4018"/>
              </a:lnSpc>
              <a:buFont typeface="Arial"/>
              <a:buChar char="•"/>
            </a:pPr>
            <a:r>
              <a:rPr lang="en-US" sz="3214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rPr>
              <a:t>Gargalo operacional</a:t>
            </a:r>
          </a:p>
          <a:p>
            <a:pPr algn="just">
              <a:lnSpc>
                <a:spcPts val="4018"/>
              </a:lnSpc>
            </a:pPr>
          </a:p>
          <a:p>
            <a:pPr algn="just" marL="694090" indent="-347045" lvl="1">
              <a:lnSpc>
                <a:spcPts val="4018"/>
              </a:lnSpc>
              <a:buFont typeface="Arial"/>
              <a:buChar char="•"/>
            </a:pPr>
            <a:r>
              <a:rPr lang="en-US" sz="3214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rPr>
              <a:t>Inconsistência do sistema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84087" y="653702"/>
            <a:ext cx="5115100" cy="538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ardo Bold"/>
                <a:ea typeface="Cardo Bold"/>
                <a:cs typeface="Cardo Bold"/>
                <a:sym typeface="Cardo Bold"/>
              </a:rPr>
              <a:t>cmd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2889550" y="9193555"/>
            <a:ext cx="1271608" cy="652980"/>
            <a:chOff x="0" y="0"/>
            <a:chExt cx="334909" cy="17197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550140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01187" cy="2901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601187" cy="20252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755886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755886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755886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9280209" y="4198412"/>
            <a:ext cx="5798369" cy="3088949"/>
          </a:xfrm>
          <a:custGeom>
            <a:avLst/>
            <a:gdLst/>
            <a:ahLst/>
            <a:cxnLst/>
            <a:rect r="r" b="b" t="t" l="l"/>
            <a:pathLst>
              <a:path h="3088949" w="5798369">
                <a:moveTo>
                  <a:pt x="0" y="0"/>
                </a:moveTo>
                <a:lnTo>
                  <a:pt x="5798370" y="0"/>
                </a:lnTo>
                <a:lnTo>
                  <a:pt x="5798370" y="3088950"/>
                </a:lnTo>
                <a:lnTo>
                  <a:pt x="0" y="30889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9683415" y="6934002"/>
            <a:ext cx="640554" cy="1090726"/>
          </a:xfrm>
          <a:custGeom>
            <a:avLst/>
            <a:gdLst/>
            <a:ahLst/>
            <a:cxnLst/>
            <a:rect r="r" b="b" t="t" l="l"/>
            <a:pathLst>
              <a:path h="1090726" w="640554">
                <a:moveTo>
                  <a:pt x="0" y="0"/>
                </a:moveTo>
                <a:lnTo>
                  <a:pt x="640553" y="0"/>
                </a:lnTo>
                <a:lnTo>
                  <a:pt x="640553" y="1090725"/>
                </a:lnTo>
                <a:lnTo>
                  <a:pt x="0" y="10907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4218137" y="3925395"/>
            <a:ext cx="1048895" cy="1018382"/>
          </a:xfrm>
          <a:custGeom>
            <a:avLst/>
            <a:gdLst/>
            <a:ahLst/>
            <a:cxnLst/>
            <a:rect r="r" b="b" t="t" l="l"/>
            <a:pathLst>
              <a:path h="1018382" w="1048895">
                <a:moveTo>
                  <a:pt x="0" y="0"/>
                </a:moveTo>
                <a:lnTo>
                  <a:pt x="1048895" y="0"/>
                </a:lnTo>
                <a:lnTo>
                  <a:pt x="1048895" y="1018381"/>
                </a:lnTo>
                <a:lnTo>
                  <a:pt x="0" y="101838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9412033" y="5372100"/>
            <a:ext cx="5534722" cy="901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7"/>
              </a:lnSpc>
            </a:pPr>
            <a:r>
              <a:rPr lang="en-US" b="true" sz="7420" spc="-252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OBJETIVO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73189" y="4307638"/>
            <a:ext cx="6947050" cy="2860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64262" indent="-332131" lvl="1">
              <a:lnSpc>
                <a:spcPts val="3845"/>
              </a:lnSpc>
              <a:buFont typeface="Arial"/>
              <a:buChar char="•"/>
            </a:pPr>
            <a:r>
              <a:rPr lang="en-US" sz="3076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rPr>
              <a:t>Criar solução sem interação humana</a:t>
            </a:r>
          </a:p>
          <a:p>
            <a:pPr algn="just">
              <a:lnSpc>
                <a:spcPts val="3845"/>
              </a:lnSpc>
            </a:pPr>
          </a:p>
          <a:p>
            <a:pPr algn="just" marL="664262" indent="-332131" lvl="1">
              <a:lnSpc>
                <a:spcPts val="3845"/>
              </a:lnSpc>
              <a:buFont typeface="Arial"/>
              <a:buChar char="•"/>
            </a:pPr>
            <a:r>
              <a:rPr lang="en-US" sz="3076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rPr>
              <a:t>Solução Universal ( funcionar em todos os Windows )</a:t>
            </a:r>
          </a:p>
          <a:p>
            <a:pPr algn="just">
              <a:lnSpc>
                <a:spcPts val="3845"/>
              </a:lnSpc>
            </a:pPr>
          </a:p>
          <a:p>
            <a:pPr algn="just" marL="664262" indent="-332131" lvl="1">
              <a:lnSpc>
                <a:spcPts val="3845"/>
              </a:lnSpc>
              <a:buFont typeface="Arial"/>
              <a:buChar char="•"/>
            </a:pPr>
            <a:r>
              <a:rPr lang="en-US" sz="3076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rPr>
              <a:t>Melhorar Produtividade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84087" y="763377"/>
            <a:ext cx="5115100" cy="538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ardo Bold"/>
                <a:ea typeface="Cardo Bold"/>
                <a:cs typeface="Cardo Bold"/>
                <a:sym typeface="Cardo Bold"/>
              </a:rPr>
              <a:t>cmd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4073148" y="9193555"/>
            <a:ext cx="1271608" cy="652980"/>
            <a:chOff x="0" y="0"/>
            <a:chExt cx="334909" cy="17197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506292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01187" cy="2901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601187" cy="20252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712039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7"/>
                </a:lnTo>
                <a:lnTo>
                  <a:pt x="0" y="5456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712039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7"/>
                </a:lnTo>
                <a:lnTo>
                  <a:pt x="0" y="5456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712039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7"/>
                </a:lnTo>
                <a:lnTo>
                  <a:pt x="0" y="5456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3510929" y="3200357"/>
            <a:ext cx="5798369" cy="3088949"/>
          </a:xfrm>
          <a:custGeom>
            <a:avLst/>
            <a:gdLst/>
            <a:ahLst/>
            <a:cxnLst/>
            <a:rect r="r" b="b" t="t" l="l"/>
            <a:pathLst>
              <a:path h="3088949" w="5798369">
                <a:moveTo>
                  <a:pt x="0" y="0"/>
                </a:moveTo>
                <a:lnTo>
                  <a:pt x="5798370" y="0"/>
                </a:lnTo>
                <a:lnTo>
                  <a:pt x="5798370" y="3088950"/>
                </a:lnTo>
                <a:lnTo>
                  <a:pt x="0" y="30889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5538489" y="9193555"/>
            <a:ext cx="1271608" cy="652980"/>
            <a:chOff x="0" y="0"/>
            <a:chExt cx="334909" cy="17197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10520691" y="3076134"/>
            <a:ext cx="3213173" cy="3213173"/>
          </a:xfrm>
          <a:custGeom>
            <a:avLst/>
            <a:gdLst/>
            <a:ahLst/>
            <a:cxnLst/>
            <a:rect r="r" b="b" t="t" l="l"/>
            <a:pathLst>
              <a:path h="3213173" w="3213173">
                <a:moveTo>
                  <a:pt x="0" y="0"/>
                </a:moveTo>
                <a:lnTo>
                  <a:pt x="3213173" y="0"/>
                </a:lnTo>
                <a:lnTo>
                  <a:pt x="3213173" y="3213173"/>
                </a:lnTo>
                <a:lnTo>
                  <a:pt x="0" y="321317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3306936" y="3076134"/>
            <a:ext cx="1019520" cy="989861"/>
          </a:xfrm>
          <a:custGeom>
            <a:avLst/>
            <a:gdLst/>
            <a:ahLst/>
            <a:cxnLst/>
            <a:rect r="r" b="b" t="t" l="l"/>
            <a:pathLst>
              <a:path h="989861" w="1019520">
                <a:moveTo>
                  <a:pt x="0" y="0"/>
                </a:moveTo>
                <a:lnTo>
                  <a:pt x="1019520" y="0"/>
                </a:lnTo>
                <a:lnTo>
                  <a:pt x="1019520" y="989861"/>
                </a:lnTo>
                <a:lnTo>
                  <a:pt x="0" y="98986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0680566" y="3200357"/>
            <a:ext cx="5126646" cy="4857655"/>
          </a:xfrm>
          <a:custGeom>
            <a:avLst/>
            <a:gdLst/>
            <a:ahLst/>
            <a:cxnLst/>
            <a:rect r="r" b="b" t="t" l="l"/>
            <a:pathLst>
              <a:path h="4857655" w="5126646">
                <a:moveTo>
                  <a:pt x="0" y="0"/>
                </a:moveTo>
                <a:lnTo>
                  <a:pt x="5126645" y="0"/>
                </a:lnTo>
                <a:lnTo>
                  <a:pt x="5126645" y="4857655"/>
                </a:lnTo>
                <a:lnTo>
                  <a:pt x="0" y="485765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3778444" y="4147799"/>
            <a:ext cx="5263340" cy="1394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08"/>
              </a:lnSpc>
            </a:pPr>
            <a:r>
              <a:rPr lang="en-US" b="true" sz="6127" spc="-208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SOLUÇÃO</a:t>
            </a:r>
          </a:p>
          <a:p>
            <a:pPr algn="ctr">
              <a:lnSpc>
                <a:spcPts val="5208"/>
              </a:lnSpc>
            </a:pPr>
            <a:r>
              <a:rPr lang="en-US" b="true" sz="6127" spc="-208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TÉCNICA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141637" y="6676533"/>
            <a:ext cx="8471795" cy="2286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23638" indent="-311819" lvl="1">
              <a:lnSpc>
                <a:spcPts val="3610"/>
              </a:lnSpc>
              <a:buFont typeface="Arial"/>
              <a:buChar char="•"/>
            </a:pPr>
            <a:r>
              <a:rPr lang="en-US" sz="2888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rPr>
              <a:t>Utilizado: Batch Script ( .cmd/.bat )</a:t>
            </a:r>
          </a:p>
          <a:p>
            <a:pPr algn="just">
              <a:lnSpc>
                <a:spcPts val="3610"/>
              </a:lnSpc>
            </a:pPr>
          </a:p>
          <a:p>
            <a:pPr algn="just" marL="623638" indent="-311819" lvl="1">
              <a:lnSpc>
                <a:spcPts val="3610"/>
              </a:lnSpc>
              <a:buFont typeface="Arial"/>
              <a:buChar char="•"/>
            </a:pPr>
            <a:r>
              <a:rPr lang="en-US" sz="2888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rPr>
              <a:t>Estruturas de pasta $OEM$</a:t>
            </a:r>
          </a:p>
          <a:p>
            <a:pPr algn="just">
              <a:lnSpc>
                <a:spcPts val="3610"/>
              </a:lnSpc>
            </a:pPr>
          </a:p>
          <a:p>
            <a:pPr algn="just" marL="623638" indent="-311819" lvl="1">
              <a:lnSpc>
                <a:spcPts val="3610"/>
              </a:lnSpc>
              <a:buFont typeface="Arial"/>
              <a:buChar char="•"/>
            </a:pPr>
            <a:r>
              <a:rPr lang="en-US" sz="2888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rPr>
              <a:t>Ativação em MAS ( Microsoft Activation Scripts )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84087" y="719530"/>
            <a:ext cx="5115100" cy="538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ardo Bold"/>
                <a:ea typeface="Cardo Bold"/>
                <a:cs typeface="Cardo Bold"/>
                <a:sym typeface="Cardo Bold"/>
              </a:rPr>
              <a:t>cmd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630117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01187" cy="2901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601187" cy="20252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835864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7"/>
                </a:lnTo>
                <a:lnTo>
                  <a:pt x="0" y="5456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835864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7"/>
                </a:lnTo>
                <a:lnTo>
                  <a:pt x="0" y="5456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835864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7"/>
                </a:lnTo>
                <a:lnTo>
                  <a:pt x="0" y="5456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9703496" y="3343236"/>
            <a:ext cx="5798369" cy="3088949"/>
          </a:xfrm>
          <a:custGeom>
            <a:avLst/>
            <a:gdLst/>
            <a:ahLst/>
            <a:cxnLst/>
            <a:rect r="r" b="b" t="t" l="l"/>
            <a:pathLst>
              <a:path h="3088949" w="5798369">
                <a:moveTo>
                  <a:pt x="0" y="0"/>
                </a:moveTo>
                <a:lnTo>
                  <a:pt x="5798370" y="0"/>
                </a:lnTo>
                <a:lnTo>
                  <a:pt x="5798370" y="3088949"/>
                </a:lnTo>
                <a:lnTo>
                  <a:pt x="0" y="3088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8508196" y="9193555"/>
            <a:ext cx="1271608" cy="652980"/>
            <a:chOff x="0" y="0"/>
            <a:chExt cx="334909" cy="17197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786508" y="3028946"/>
            <a:ext cx="2986282" cy="2986282"/>
          </a:xfrm>
          <a:custGeom>
            <a:avLst/>
            <a:gdLst/>
            <a:ahLst/>
            <a:cxnLst/>
            <a:rect r="r" b="b" t="t" l="l"/>
            <a:pathLst>
              <a:path h="2986282" w="2986282">
                <a:moveTo>
                  <a:pt x="0" y="0"/>
                </a:moveTo>
                <a:lnTo>
                  <a:pt x="2986282" y="0"/>
                </a:lnTo>
                <a:lnTo>
                  <a:pt x="2986282" y="2986282"/>
                </a:lnTo>
                <a:lnTo>
                  <a:pt x="0" y="298628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9193736" y="3265263"/>
            <a:ext cx="1019520" cy="989861"/>
          </a:xfrm>
          <a:custGeom>
            <a:avLst/>
            <a:gdLst/>
            <a:ahLst/>
            <a:cxnLst/>
            <a:rect r="r" b="b" t="t" l="l"/>
            <a:pathLst>
              <a:path h="989861" w="1019520">
                <a:moveTo>
                  <a:pt x="0" y="0"/>
                </a:moveTo>
                <a:lnTo>
                  <a:pt x="1019520" y="0"/>
                </a:lnTo>
                <a:lnTo>
                  <a:pt x="1019520" y="989861"/>
                </a:lnTo>
                <a:lnTo>
                  <a:pt x="0" y="98986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028700" y="3245645"/>
            <a:ext cx="6749004" cy="2531062"/>
          </a:xfrm>
          <a:custGeom>
            <a:avLst/>
            <a:gdLst/>
            <a:ahLst/>
            <a:cxnLst/>
            <a:rect r="r" b="b" t="t" l="l"/>
            <a:pathLst>
              <a:path h="2531062" w="6749004">
                <a:moveTo>
                  <a:pt x="0" y="0"/>
                </a:moveTo>
                <a:lnTo>
                  <a:pt x="6749004" y="0"/>
                </a:lnTo>
                <a:lnTo>
                  <a:pt x="6749004" y="2531061"/>
                </a:lnTo>
                <a:lnTo>
                  <a:pt x="0" y="253106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-2635" t="0" r="-50107" b="-862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438574" y="5927461"/>
            <a:ext cx="5015380" cy="3071920"/>
          </a:xfrm>
          <a:custGeom>
            <a:avLst/>
            <a:gdLst/>
            <a:ahLst/>
            <a:cxnLst/>
            <a:rect r="r" b="b" t="t" l="l"/>
            <a:pathLst>
              <a:path h="3071920" w="5015380">
                <a:moveTo>
                  <a:pt x="0" y="0"/>
                </a:moveTo>
                <a:lnTo>
                  <a:pt x="5015380" y="0"/>
                </a:lnTo>
                <a:lnTo>
                  <a:pt x="5015380" y="3071921"/>
                </a:lnTo>
                <a:lnTo>
                  <a:pt x="0" y="307192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9971011" y="4290677"/>
            <a:ext cx="5263340" cy="1394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08"/>
              </a:lnSpc>
            </a:pPr>
            <a:r>
              <a:rPr lang="en-US" b="true" sz="6127" spc="-208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COMO FOI FEITO?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193736" y="6712674"/>
            <a:ext cx="7994641" cy="2286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23638" indent="-311819" lvl="1">
              <a:lnSpc>
                <a:spcPts val="3610"/>
              </a:lnSpc>
              <a:buFont typeface="Arial"/>
              <a:buChar char="•"/>
            </a:pPr>
            <a:r>
              <a:rPr lang="en-US" sz="2888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rPr>
              <a:t>Distribuição de pastas $OEM$</a:t>
            </a:r>
          </a:p>
          <a:p>
            <a:pPr algn="just">
              <a:lnSpc>
                <a:spcPts val="3610"/>
              </a:lnSpc>
            </a:pPr>
          </a:p>
          <a:p>
            <a:pPr algn="just" marL="623638" indent="-311819" lvl="1">
              <a:lnSpc>
                <a:spcPts val="3610"/>
              </a:lnSpc>
              <a:buFont typeface="Arial"/>
              <a:buChar char="•"/>
            </a:pPr>
            <a:r>
              <a:rPr lang="en-US" sz="2888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rPr>
              <a:t>Modificação de imagem ISO por CMD</a:t>
            </a:r>
          </a:p>
          <a:p>
            <a:pPr algn="just">
              <a:lnSpc>
                <a:spcPts val="3610"/>
              </a:lnSpc>
            </a:pPr>
          </a:p>
          <a:p>
            <a:pPr algn="just" marL="623638" indent="-311819" lvl="1">
              <a:lnSpc>
                <a:spcPts val="3610"/>
              </a:lnSpc>
              <a:buFont typeface="Arial"/>
              <a:buChar char="•"/>
            </a:pPr>
            <a:r>
              <a:rPr lang="en-US" sz="2888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rPr>
              <a:t>Diretório do Windows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84087" y="843355"/>
            <a:ext cx="5115100" cy="538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ardo Bold"/>
                <a:ea typeface="Cardo Bold"/>
                <a:cs typeface="Cardo Bold"/>
                <a:sym typeface="Cardo Bold"/>
              </a:rPr>
              <a:t>cmd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01187" cy="2901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601187" cy="20252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0977143" y="9193555"/>
            <a:ext cx="1271608" cy="652980"/>
            <a:chOff x="0" y="0"/>
            <a:chExt cx="334909" cy="1719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4466591" y="7639571"/>
            <a:ext cx="640554" cy="1090726"/>
          </a:xfrm>
          <a:custGeom>
            <a:avLst/>
            <a:gdLst/>
            <a:ahLst/>
            <a:cxnLst/>
            <a:rect r="r" b="b" t="t" l="l"/>
            <a:pathLst>
              <a:path h="1090726" w="640554">
                <a:moveTo>
                  <a:pt x="0" y="0"/>
                </a:moveTo>
                <a:lnTo>
                  <a:pt x="640554" y="0"/>
                </a:lnTo>
                <a:lnTo>
                  <a:pt x="640554" y="1090726"/>
                </a:lnTo>
                <a:lnTo>
                  <a:pt x="0" y="109072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5486400" y="3560757"/>
            <a:ext cx="7315200" cy="1582743"/>
          </a:xfrm>
          <a:custGeom>
            <a:avLst/>
            <a:gdLst/>
            <a:ahLst/>
            <a:cxnLst/>
            <a:rect r="r" b="b" t="t" l="l"/>
            <a:pathLst>
              <a:path h="1582743" w="7315200">
                <a:moveTo>
                  <a:pt x="0" y="0"/>
                </a:moveTo>
                <a:lnTo>
                  <a:pt x="7315200" y="0"/>
                </a:lnTo>
                <a:lnTo>
                  <a:pt x="7315200" y="1582743"/>
                </a:lnTo>
                <a:lnTo>
                  <a:pt x="0" y="158274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7" id="27"/>
          <p:cNvSpPr txBox="true"/>
          <p:nvPr/>
        </p:nvSpPr>
        <p:spPr>
          <a:xfrm rot="0">
            <a:off x="5669013" y="4112093"/>
            <a:ext cx="6949975" cy="648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71"/>
              </a:lnSpc>
            </a:pPr>
            <a:r>
              <a:rPr lang="en-US" b="true" sz="5378" spc="-182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LÓGICA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4810484" y="3222702"/>
            <a:ext cx="1166694" cy="1132754"/>
          </a:xfrm>
          <a:custGeom>
            <a:avLst/>
            <a:gdLst/>
            <a:ahLst/>
            <a:cxnLst/>
            <a:rect r="r" b="b" t="t" l="l"/>
            <a:pathLst>
              <a:path h="1132754" w="1166694">
                <a:moveTo>
                  <a:pt x="0" y="0"/>
                </a:moveTo>
                <a:lnTo>
                  <a:pt x="1166694" y="0"/>
                </a:lnTo>
                <a:lnTo>
                  <a:pt x="1166694" y="1132753"/>
                </a:lnTo>
                <a:lnTo>
                  <a:pt x="0" y="113275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4810484" y="5591175"/>
            <a:ext cx="9095341" cy="3390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63313" indent="-331656" lvl="1">
              <a:lnSpc>
                <a:spcPts val="3840"/>
              </a:lnSpc>
              <a:buFont typeface="Arial"/>
              <a:buChar char="•"/>
            </a:pPr>
            <a:r>
              <a:rPr lang="en-US" sz="3072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rPr>
              <a:t>O script identifica sua versão do Windows</a:t>
            </a:r>
          </a:p>
          <a:p>
            <a:pPr algn="just">
              <a:lnSpc>
                <a:spcPts val="3840"/>
              </a:lnSpc>
            </a:pPr>
          </a:p>
          <a:p>
            <a:pPr algn="just" marL="663313" indent="-331656" lvl="1">
              <a:lnSpc>
                <a:spcPts val="3840"/>
              </a:lnSpc>
              <a:buFont typeface="Arial"/>
              <a:buChar char="•"/>
            </a:pPr>
            <a:r>
              <a:rPr lang="en-US" sz="3072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rPr>
              <a:t>Realiza pings para verificar a rede</a:t>
            </a:r>
          </a:p>
          <a:p>
            <a:pPr algn="just">
              <a:lnSpc>
                <a:spcPts val="3840"/>
              </a:lnSpc>
            </a:pPr>
          </a:p>
          <a:p>
            <a:pPr algn="just" marL="663313" indent="-331656" lvl="1">
              <a:lnSpc>
                <a:spcPts val="3840"/>
              </a:lnSpc>
              <a:buFont typeface="Arial"/>
              <a:buChar char="•"/>
            </a:pPr>
            <a:r>
              <a:rPr lang="en-US" sz="3072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rPr>
              <a:t>Toma decisões autônomas com IF/ELSE</a:t>
            </a:r>
          </a:p>
          <a:p>
            <a:pPr algn="just">
              <a:lnSpc>
                <a:spcPts val="3840"/>
              </a:lnSpc>
            </a:pPr>
          </a:p>
          <a:p>
            <a:pPr algn="just" marL="663313" indent="-331656" lvl="1">
              <a:lnSpc>
                <a:spcPts val="3840"/>
              </a:lnSpc>
              <a:buFont typeface="Arial"/>
              <a:buChar char="•"/>
            </a:pPr>
            <a:r>
              <a:rPr lang="en-US" sz="3072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rPr>
              <a:t>Tem tratamento de exceção em caso de falha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84087" y="653702"/>
            <a:ext cx="5115100" cy="538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ardo Bold"/>
                <a:ea typeface="Cardo Bold"/>
                <a:cs typeface="Cardo Bold"/>
                <a:sym typeface="Cardo Bold"/>
              </a:rPr>
              <a:t>cmd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763467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01187" cy="2901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601187" cy="20252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969214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7"/>
                </a:lnTo>
                <a:lnTo>
                  <a:pt x="0" y="5456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969214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7"/>
                </a:lnTo>
                <a:lnTo>
                  <a:pt x="0" y="5456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969214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7"/>
                </a:lnTo>
                <a:lnTo>
                  <a:pt x="0" y="5456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2785580" y="9193555"/>
            <a:ext cx="1271608" cy="652980"/>
            <a:chOff x="0" y="0"/>
            <a:chExt cx="334909" cy="1719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4013746" y="3815663"/>
            <a:ext cx="7315200" cy="1582743"/>
          </a:xfrm>
          <a:custGeom>
            <a:avLst/>
            <a:gdLst/>
            <a:ahLst/>
            <a:cxnLst/>
            <a:rect r="r" b="b" t="t" l="l"/>
            <a:pathLst>
              <a:path h="1582743" w="7315200">
                <a:moveTo>
                  <a:pt x="0" y="0"/>
                </a:moveTo>
                <a:lnTo>
                  <a:pt x="7315200" y="0"/>
                </a:lnTo>
                <a:lnTo>
                  <a:pt x="7315200" y="1582744"/>
                </a:lnTo>
                <a:lnTo>
                  <a:pt x="0" y="158274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6" id="26"/>
          <p:cNvSpPr txBox="true"/>
          <p:nvPr/>
        </p:nvSpPr>
        <p:spPr>
          <a:xfrm rot="0">
            <a:off x="4196359" y="4367000"/>
            <a:ext cx="6949975" cy="648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71"/>
              </a:lnSpc>
            </a:pPr>
            <a:r>
              <a:rPr lang="en-US" b="true" sz="5378" spc="-182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RISCOS E ÉTICA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0826057" y="4853044"/>
            <a:ext cx="640554" cy="1090726"/>
          </a:xfrm>
          <a:custGeom>
            <a:avLst/>
            <a:gdLst/>
            <a:ahLst/>
            <a:cxnLst/>
            <a:rect r="r" b="b" t="t" l="l"/>
            <a:pathLst>
              <a:path h="1090726" w="640554">
                <a:moveTo>
                  <a:pt x="0" y="0"/>
                </a:moveTo>
                <a:lnTo>
                  <a:pt x="640553" y="0"/>
                </a:lnTo>
                <a:lnTo>
                  <a:pt x="640553" y="1090726"/>
                </a:lnTo>
                <a:lnTo>
                  <a:pt x="0" y="10907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3485004" y="3477608"/>
            <a:ext cx="1019520" cy="989861"/>
          </a:xfrm>
          <a:custGeom>
            <a:avLst/>
            <a:gdLst/>
            <a:ahLst/>
            <a:cxnLst/>
            <a:rect r="r" b="b" t="t" l="l"/>
            <a:pathLst>
              <a:path h="989861" w="1019520">
                <a:moveTo>
                  <a:pt x="0" y="0"/>
                </a:moveTo>
                <a:lnTo>
                  <a:pt x="1019520" y="0"/>
                </a:lnTo>
                <a:lnTo>
                  <a:pt x="1019520" y="989861"/>
                </a:lnTo>
                <a:lnTo>
                  <a:pt x="0" y="98986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3485004" y="5863538"/>
            <a:ext cx="8592661" cy="2904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68337" indent="-334169" lvl="1">
              <a:lnSpc>
                <a:spcPts val="3869"/>
              </a:lnSpc>
              <a:buFont typeface="Arial"/>
              <a:buChar char="•"/>
            </a:pPr>
            <a:r>
              <a:rPr lang="en-US" sz="3095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rPr>
              <a:t>Risco Corporativo ( ideal sempre usar chaves compradas )</a:t>
            </a:r>
          </a:p>
          <a:p>
            <a:pPr algn="just">
              <a:lnSpc>
                <a:spcPts val="3869"/>
              </a:lnSpc>
            </a:pPr>
          </a:p>
          <a:p>
            <a:pPr algn="just" marL="668337" indent="-334169" lvl="1">
              <a:lnSpc>
                <a:spcPts val="3869"/>
              </a:lnSpc>
              <a:buFont typeface="Arial"/>
              <a:buChar char="•"/>
            </a:pPr>
            <a:r>
              <a:rPr lang="en-US" sz="3095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rPr>
              <a:t>Foco na lógica e na automação</a:t>
            </a:r>
          </a:p>
          <a:p>
            <a:pPr algn="just">
              <a:lnSpc>
                <a:spcPts val="3869"/>
              </a:lnSpc>
            </a:pPr>
          </a:p>
          <a:p>
            <a:pPr algn="just" marL="668337" indent="-334169" lvl="1">
              <a:lnSpc>
                <a:spcPts val="3869"/>
              </a:lnSpc>
              <a:buFont typeface="Arial"/>
              <a:buChar char="•"/>
            </a:pPr>
            <a:r>
              <a:rPr lang="en-US" sz="3095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rPr>
              <a:t>modificação de DLL’s de sistema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84087" y="976705"/>
            <a:ext cx="5115100" cy="538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ardo Bold"/>
                <a:ea typeface="Cardo Bold"/>
                <a:cs typeface="Cardo Bold"/>
                <a:sym typeface="Cardo Bold"/>
              </a:rPr>
              <a:t>cmd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12583611" y="3794892"/>
            <a:ext cx="4156342" cy="4156342"/>
          </a:xfrm>
          <a:custGeom>
            <a:avLst/>
            <a:gdLst/>
            <a:ahLst/>
            <a:cxnLst/>
            <a:rect r="r" b="b" t="t" l="l"/>
            <a:pathLst>
              <a:path h="4156342" w="4156342">
                <a:moveTo>
                  <a:pt x="0" y="0"/>
                </a:moveTo>
                <a:lnTo>
                  <a:pt x="4156342" y="0"/>
                </a:lnTo>
                <a:lnTo>
                  <a:pt x="4156342" y="4156343"/>
                </a:lnTo>
                <a:lnTo>
                  <a:pt x="0" y="415634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582492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01187" cy="2901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601187" cy="20252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788239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7"/>
                </a:lnTo>
                <a:lnTo>
                  <a:pt x="0" y="5456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788239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7"/>
                </a:lnTo>
                <a:lnTo>
                  <a:pt x="0" y="5456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788239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7"/>
                </a:lnTo>
                <a:lnTo>
                  <a:pt x="0" y="5456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886058" y="9193555"/>
            <a:ext cx="1271608" cy="652980"/>
            <a:chOff x="0" y="0"/>
            <a:chExt cx="334909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4038281" y="3603783"/>
            <a:ext cx="10211437" cy="1792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99"/>
              </a:lnSpc>
            </a:pPr>
            <a:r>
              <a:rPr lang="en-US" b="true" sz="13499" spc="-458">
                <a:solidFill>
                  <a:srgbClr val="0057CC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CONCLUSÃO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84087" y="795730"/>
            <a:ext cx="5115100" cy="538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ardo Bold"/>
                <a:ea typeface="Cardo Bold"/>
                <a:cs typeface="Cardo Bold"/>
                <a:sym typeface="Cardo Bold"/>
              </a:rPr>
              <a:t>cmd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069373" y="5735139"/>
            <a:ext cx="2149254" cy="658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11"/>
              </a:lnSpc>
            </a:pPr>
            <a:r>
              <a:rPr lang="en-US" sz="4248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rPr>
              <a:t>Dúvidas?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7117311" y="7345271"/>
            <a:ext cx="4053378" cy="877004"/>
          </a:xfrm>
          <a:custGeom>
            <a:avLst/>
            <a:gdLst/>
            <a:ahLst/>
            <a:cxnLst/>
            <a:rect r="r" b="b" t="t" l="l"/>
            <a:pathLst>
              <a:path h="877004" w="4053378">
                <a:moveTo>
                  <a:pt x="0" y="0"/>
                </a:moveTo>
                <a:lnTo>
                  <a:pt x="4053378" y="0"/>
                </a:lnTo>
                <a:lnTo>
                  <a:pt x="4053378" y="877004"/>
                </a:lnTo>
                <a:lnTo>
                  <a:pt x="0" y="87700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9" id="29"/>
          <p:cNvSpPr/>
          <p:nvPr/>
        </p:nvSpPr>
        <p:spPr>
          <a:xfrm flipH="false" flipV="false" rot="0">
            <a:off x="10010178" y="7651058"/>
            <a:ext cx="523211" cy="890917"/>
          </a:xfrm>
          <a:custGeom>
            <a:avLst/>
            <a:gdLst/>
            <a:ahLst/>
            <a:cxnLst/>
            <a:rect r="r" b="b" t="t" l="l"/>
            <a:pathLst>
              <a:path h="890917" w="523211">
                <a:moveTo>
                  <a:pt x="0" y="0"/>
                </a:moveTo>
                <a:lnTo>
                  <a:pt x="523211" y="0"/>
                </a:lnTo>
                <a:lnTo>
                  <a:pt x="523211" y="890917"/>
                </a:lnTo>
                <a:lnTo>
                  <a:pt x="0" y="89091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7768488" y="7527005"/>
            <a:ext cx="2751025" cy="494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0"/>
              </a:lnSpc>
            </a:pPr>
            <a:r>
              <a:rPr lang="en-US" sz="3128" b="true">
                <a:solidFill>
                  <a:srgbClr val="000000"/>
                </a:solidFill>
                <a:latin typeface="Cardo Bold"/>
                <a:ea typeface="Cardo Bold"/>
                <a:cs typeface="Cardo Bold"/>
                <a:sym typeface="Cardo Bold"/>
              </a:rPr>
              <a:t>EXIT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08934" y="8896376"/>
            <a:ext cx="4662636" cy="297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1800" i="true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Créditos do server ativador: Massgrave.dev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DAG5zUPRu64</dc:identifier>
  <dcterms:modified xsi:type="dcterms:W3CDTF">2011-08-01T06:04:30Z</dcterms:modified>
  <cp:revision>1</cp:revision>
  <dc:title>Grey Blue Pixel Tech Computer Presentation</dc:title>
</cp:coreProperties>
</file>